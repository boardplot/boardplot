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540000"/>
            <a:ext cx="609600" cy="5080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8900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Q3 FY26 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544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Board of directors  |  14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0000"/>
            <a:ext cx="8890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Alder Outdoor. All figures are invented for the Boardplot examples.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762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251FF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1127760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51C2C"/>
                </a:solidFill>
                <a:latin typeface="Arial"/>
              </a:rPr>
              <a:t>Revenue is 9% above last year and ahead of plan; margin and costs need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44600"/>
            <a:ext cx="11277600" cy="9525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3200"/>
            <a:ext cx="508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Arial"/>
              </a:rPr>
              <a:t>Alder Outdoor  |  Q3 FY26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600" y="6553200"/>
            <a:ext cx="457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B7A"/>
                </a:solidFill>
                <a:latin typeface="Arial"/>
              </a:rPr>
              <a:t>2</a:t>
            </a:r>
          </a:p>
        </p:txBody>
      </p:sp>
      <p:pic>
        <p:nvPicPr>
          <p:cNvPr id="7" name="Picture 6" descr="kpi-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2400"/>
            <a:ext cx="2667000" cy="2219325"/>
          </a:xfrm>
          <a:prstGeom prst="rect">
            <a:avLst/>
          </a:prstGeom>
        </p:spPr>
      </p:pic>
      <p:pic>
        <p:nvPicPr>
          <p:cNvPr id="8" name="Picture 7" descr="kpi-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0" y="1422400"/>
            <a:ext cx="2667000" cy="2219325"/>
          </a:xfrm>
          <a:prstGeom prst="rect">
            <a:avLst/>
          </a:prstGeom>
        </p:spPr>
      </p:pic>
      <p:pic>
        <p:nvPicPr>
          <p:cNvPr id="9" name="Picture 8" descr="kpi-e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0" y="1422400"/>
            <a:ext cx="2667000" cy="2219325"/>
          </a:xfrm>
          <a:prstGeom prst="rect">
            <a:avLst/>
          </a:prstGeom>
        </p:spPr>
      </p:pic>
      <p:pic>
        <p:nvPicPr>
          <p:cNvPr id="10" name="Picture 9" descr="kpi-on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800" y="1422400"/>
            <a:ext cx="2667000" cy="1943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4038600"/>
            <a:ext cx="50800" cy="60960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4038600"/>
            <a:ext cx="1092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1C2C"/>
                </a:solidFill>
                <a:latin typeface="Arial"/>
              </a:rPr>
              <a:t>Growth comes from volume, price and the new bike packs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00" y="4318000"/>
            <a:ext cx="1092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rial"/>
              </a:rPr>
              <a:t>Online grew 27%. Dropping climbing hardware cost €1.1m of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26000"/>
            <a:ext cx="50800" cy="60960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826000"/>
            <a:ext cx="1092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1C2C"/>
                </a:solidFill>
                <a:latin typeface="Arial"/>
              </a:rPr>
              <a:t>Gross margin fell 1.3 points to 51.2%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" y="5105400"/>
            <a:ext cx="1092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rial"/>
              </a:rPr>
              <a:t>Freight, duties and a richer marketing push grew faster than revenue.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13400"/>
            <a:ext cx="50800" cy="609600"/>
          </a:xfrm>
          <a:prstGeom prst="rect">
            <a:avLst/>
          </a:prstGeom>
          <a:solidFill>
            <a:srgbClr val="225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5613400"/>
            <a:ext cx="1092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1C2C"/>
                </a:solidFill>
                <a:latin typeface="Arial"/>
              </a:rPr>
              <a:t>Two transformation workstreams are off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400" y="5892800"/>
            <a:ext cx="1092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Arial"/>
              </a:rPr>
              <a:t>Sourcing in Asia and the central warehouse need a decision before the roll-out.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762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251FF"/>
                </a:solidFill>
                <a:latin typeface="Arial"/>
              </a:rPr>
              <a:t>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1127760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51C2C"/>
                </a:solidFill>
                <a:latin typeface="Arial"/>
              </a:rPr>
              <a:t>Q3 revenue grew €4.9m: volume added €3.2m and price €1.8m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44600"/>
            <a:ext cx="11277600" cy="9525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3200"/>
            <a:ext cx="508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Arial"/>
              </a:rPr>
              <a:t>Alder Outdoor  |  Q3 FY26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600" y="6553200"/>
            <a:ext cx="457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B7A"/>
                </a:solidFill>
                <a:latin typeface="Arial"/>
              </a:rPr>
              <a:t>3</a:t>
            </a:r>
          </a:p>
        </p:txBody>
      </p:sp>
      <p:pic>
        <p:nvPicPr>
          <p:cNvPr id="7" name="Picture 6" descr="p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2400"/>
            <a:ext cx="7315200" cy="47720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77200" y="1422400"/>
            <a:ext cx="3657600" cy="47752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400" y="1625600"/>
            <a:ext cx="32512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51C2C"/>
                </a:solidFill>
                <a:latin typeface="Arial"/>
              </a:rPr>
              <a:t>What it means</a:t>
            </a:r>
          </a:p>
        </p:txBody>
      </p:sp>
      <p:sp>
        <p:nvSpPr>
          <p:cNvPr id="10" name="Oval 9"/>
          <p:cNvSpPr/>
          <p:nvPr/>
        </p:nvSpPr>
        <p:spPr>
          <a:xfrm>
            <a:off x="8280400" y="2032000"/>
            <a:ext cx="228600" cy="228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0" y="2032000"/>
            <a:ext cx="2895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1C2C"/>
                </a:solidFill>
                <a:latin typeface="Arial"/>
              </a:rPr>
              <a:t>More units of tents, backpacks, footwear and accessories carry the growth. Apparel lost volume to discounters.</a:t>
            </a:r>
          </a:p>
        </p:txBody>
      </p:sp>
      <p:sp>
        <p:nvSpPr>
          <p:cNvPr id="12" name="Oval 11"/>
          <p:cNvSpPr/>
          <p:nvPr/>
        </p:nvSpPr>
        <p:spPr>
          <a:xfrm>
            <a:off x="8280400" y="3048000"/>
            <a:ext cx="228600" cy="228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000" y="3048000"/>
            <a:ext cx="2895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1C2C"/>
                </a:solidFill>
                <a:latin typeface="Arial"/>
              </a:rPr>
              <a:t>Price increases on tents and footwear held without a volume loss.</a:t>
            </a:r>
          </a:p>
        </p:txBody>
      </p:sp>
      <p:sp>
        <p:nvSpPr>
          <p:cNvPr id="14" name="Oval 13"/>
          <p:cNvSpPr/>
          <p:nvPr/>
        </p:nvSpPr>
        <p:spPr>
          <a:xfrm>
            <a:off x="8280400" y="4064000"/>
            <a:ext cx="228600" cy="228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4064000"/>
            <a:ext cx="2895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1C2C"/>
                </a:solidFill>
                <a:latin typeface="Arial"/>
              </a:rPr>
              <a:t>Bike packs, launched in May, bring €1.5m a quarter and replace the dropped climbing range.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762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251FF"/>
                </a:solidFill>
                <a:latin typeface="Arial"/>
              </a:rPr>
              <a:t>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1127760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51C2C"/>
                </a:solidFill>
                <a:latin typeface="Arial"/>
              </a:rPr>
              <a:t>Online grew 28.5% a year since FY21 and brought four fifths of the group's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44600"/>
            <a:ext cx="11277600" cy="9525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3200"/>
            <a:ext cx="508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Arial"/>
              </a:rPr>
              <a:t>Alder Outdoor  |  Q3 FY26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600" y="6553200"/>
            <a:ext cx="457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B7A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channel-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2400"/>
            <a:ext cx="7315200" cy="47720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77200" y="1422400"/>
            <a:ext cx="3657600" cy="47752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400" y="1625600"/>
            <a:ext cx="32512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51C2C"/>
                </a:solidFill>
                <a:latin typeface="Arial"/>
              </a:rPr>
              <a:t>What it means</a:t>
            </a:r>
          </a:p>
        </p:txBody>
      </p:sp>
      <p:sp>
        <p:nvSpPr>
          <p:cNvPr id="10" name="Oval 9"/>
          <p:cNvSpPr/>
          <p:nvPr/>
        </p:nvSpPr>
        <p:spPr>
          <a:xfrm>
            <a:off x="8280400" y="2032000"/>
            <a:ext cx="228600" cy="228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0" y="2032000"/>
            <a:ext cx="2895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1C2C"/>
                </a:solidFill>
                <a:latin typeface="Arial"/>
              </a:rPr>
              <a:t>Online nearly tripled from €22m to €60m in four years.</a:t>
            </a:r>
          </a:p>
        </p:txBody>
      </p:sp>
      <p:sp>
        <p:nvSpPr>
          <p:cNvPr id="12" name="Oval 11"/>
          <p:cNvSpPr/>
          <p:nvPr/>
        </p:nvSpPr>
        <p:spPr>
          <a:xfrm>
            <a:off x="8280400" y="3048000"/>
            <a:ext cx="228600" cy="228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000" y="3048000"/>
            <a:ext cx="2895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1C2C"/>
                </a:solidFill>
                <a:latin typeface="Arial"/>
              </a:rPr>
              <a:t>Own stores have been flat since FY22. Each store needs a clear role next to online.</a:t>
            </a:r>
          </a:p>
        </p:txBody>
      </p:sp>
      <p:sp>
        <p:nvSpPr>
          <p:cNvPr id="14" name="Oval 13"/>
          <p:cNvSpPr/>
          <p:nvPr/>
        </p:nvSpPr>
        <p:spPr>
          <a:xfrm>
            <a:off x="8280400" y="4064000"/>
            <a:ext cx="228600" cy="228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4064000"/>
            <a:ext cx="2895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1C2C"/>
                </a:solidFill>
                <a:latin typeface="Arial"/>
              </a:rPr>
              <a:t>Wholesale grows slowly but stays profitable. Keep the key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762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251FF"/>
                </a:solidFill>
                <a:latin typeface="Arial"/>
              </a:rPr>
              <a:t>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1127760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51C2C"/>
                </a:solidFill>
                <a:latin typeface="Arial"/>
              </a:rPr>
              <a:t>DACH and Iberia lead the regional growth; France fell 8% and is the only region below last year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44600"/>
            <a:ext cx="11277600" cy="9525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3200"/>
            <a:ext cx="508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Arial"/>
              </a:rPr>
              <a:t>Alder Outdoor  |  Q3 FY26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600" y="6553200"/>
            <a:ext cx="457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B7A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region-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2400"/>
            <a:ext cx="5534025" cy="4772025"/>
          </a:xfrm>
          <a:prstGeom prst="rect">
            <a:avLst/>
          </a:prstGeom>
        </p:spPr>
      </p:pic>
      <p:pic>
        <p:nvPicPr>
          <p:cNvPr id="8" name="Picture 7" descr="region-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1422400"/>
            <a:ext cx="5534025" cy="4772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762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251FF"/>
                </a:solidFill>
                <a:latin typeface="Arial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1127760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51C2C"/>
                </a:solidFill>
                <a:latin typeface="Arial"/>
              </a:rPr>
              <a:t>Alder leads the Nordics with 27% share but holds less than 10% in France and the UK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44600"/>
            <a:ext cx="11277600" cy="9525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3200"/>
            <a:ext cx="508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Arial"/>
              </a:rPr>
              <a:t>Alder Outdoor  |  Q3 FY26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600" y="6553200"/>
            <a:ext cx="457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B7A"/>
                </a:solidFill>
                <a:latin typeface="Arial"/>
              </a:rPr>
              <a:t>6</a:t>
            </a:r>
          </a:p>
        </p:txBody>
      </p:sp>
      <p:pic>
        <p:nvPicPr>
          <p:cNvPr id="7" name="Picture 6" descr="market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2400"/>
            <a:ext cx="7315200" cy="47720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77200" y="1422400"/>
            <a:ext cx="3657600" cy="47752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400" y="1625600"/>
            <a:ext cx="32512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51C2C"/>
                </a:solidFill>
                <a:latin typeface="Arial"/>
              </a:rPr>
              <a:t>What it means</a:t>
            </a:r>
          </a:p>
        </p:txBody>
      </p:sp>
      <p:sp>
        <p:nvSpPr>
          <p:cNvPr id="10" name="Oval 9"/>
          <p:cNvSpPr/>
          <p:nvPr/>
        </p:nvSpPr>
        <p:spPr>
          <a:xfrm>
            <a:off x="8280400" y="2032000"/>
            <a:ext cx="228600" cy="228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0" y="2032000"/>
            <a:ext cx="2895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1C2C"/>
                </a:solidFill>
                <a:latin typeface="Arial"/>
              </a:rPr>
              <a:t>In the Nordics, 27% share gives Alder pricing power. Protect it.</a:t>
            </a:r>
          </a:p>
        </p:txBody>
      </p:sp>
      <p:sp>
        <p:nvSpPr>
          <p:cNvPr id="12" name="Oval 11"/>
          <p:cNvSpPr/>
          <p:nvPr/>
        </p:nvSpPr>
        <p:spPr>
          <a:xfrm>
            <a:off x="8280400" y="3048000"/>
            <a:ext cx="228600" cy="228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000" y="3048000"/>
            <a:ext cx="2895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1C2C"/>
                </a:solidFill>
                <a:latin typeface="Arial"/>
              </a:rPr>
              <a:t>France and the UK are large markets where Alder has 8%. Growth there needs online first.</a:t>
            </a:r>
          </a:p>
        </p:txBody>
      </p:sp>
      <p:sp>
        <p:nvSpPr>
          <p:cNvPr id="14" name="Oval 13"/>
          <p:cNvSpPr/>
          <p:nvPr/>
        </p:nvSpPr>
        <p:spPr>
          <a:xfrm>
            <a:off x="8280400" y="4064000"/>
            <a:ext cx="228600" cy="228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4064000"/>
            <a:ext cx="2895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1C2C"/>
                </a:solidFill>
                <a:latin typeface="Arial"/>
              </a:rPr>
              <a:t>Summit Co. leads in the three largest markets.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762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251FF"/>
                </a:solidFill>
                <a:latin typeface="Arial"/>
              </a:rPr>
              <a:t>PROFIT AND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1127760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51C2C"/>
                </a:solidFill>
                <a:latin typeface="Arial"/>
              </a:rPr>
              <a:t>EBIT rose 11% to €6.8m but missed plan by 8%: product cost, freight and marketing grew faster than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44600"/>
            <a:ext cx="11277600" cy="9525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3200"/>
            <a:ext cx="508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Arial"/>
              </a:rPr>
              <a:t>Alder Outdoor  |  Q3 FY26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600" y="6553200"/>
            <a:ext cx="457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B7A"/>
                </a:solidFill>
                <a:latin typeface="Arial"/>
              </a:rPr>
              <a:t>7</a:t>
            </a:r>
          </a:p>
        </p:txBody>
      </p:sp>
      <p:pic>
        <p:nvPicPr>
          <p:cNvPr id="7" name="Picture 6" descr="pl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2400"/>
            <a:ext cx="11277600" cy="5286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762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251FF"/>
                </a:solidFill>
                <a:latin typeface="Arial"/>
              </a:rPr>
              <a:t>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2600"/>
            <a:ext cx="1127760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51C2C"/>
                </a:solidFill>
                <a:latin typeface="Arial"/>
              </a:rPr>
              <a:t>Sourcing in Asia and the central warehouse are off track in their pilots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44600"/>
            <a:ext cx="11277600" cy="9525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53200"/>
            <a:ext cx="508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F6B7A"/>
                </a:solidFill>
                <a:latin typeface="Arial"/>
              </a:rPr>
              <a:t>Alder Outdoor  |  Q3 FY26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600" y="6553200"/>
            <a:ext cx="457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5F6B7A"/>
                </a:solidFill>
                <a:latin typeface="Arial"/>
              </a:rPr>
              <a:t>8</a:t>
            </a:r>
          </a:p>
        </p:txBody>
      </p:sp>
      <p:pic>
        <p:nvPicPr>
          <p:cNvPr id="7" name="Picture 6" descr="program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2400"/>
            <a:ext cx="7315200" cy="47720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77200" y="1422400"/>
            <a:ext cx="3657600" cy="4775200"/>
          </a:xfrm>
          <a:prstGeom prst="rect">
            <a:avLst/>
          </a:prstGeom>
          <a:solidFill>
            <a:srgbClr val="F0F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400" y="1625600"/>
            <a:ext cx="32512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51C2C"/>
                </a:solidFill>
                <a:latin typeface="Arial"/>
              </a:rPr>
              <a:t>What it means</a:t>
            </a:r>
          </a:p>
        </p:txBody>
      </p:sp>
      <p:sp>
        <p:nvSpPr>
          <p:cNvPr id="10" name="Oval 9"/>
          <p:cNvSpPr/>
          <p:nvPr/>
        </p:nvSpPr>
        <p:spPr>
          <a:xfrm>
            <a:off x="8280400" y="2032000"/>
            <a:ext cx="228600" cy="228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0" y="2032000"/>
            <a:ext cx="2895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1C2C"/>
                </a:solidFill>
                <a:latin typeface="Arial"/>
              </a:rPr>
              <a:t>Sourcing: the second supplier failed the quality audit. Decide on a third supplier by November.</a:t>
            </a:r>
          </a:p>
        </p:txBody>
      </p:sp>
      <p:sp>
        <p:nvSpPr>
          <p:cNvPr id="12" name="Oval 11"/>
          <p:cNvSpPr/>
          <p:nvPr/>
        </p:nvSpPr>
        <p:spPr>
          <a:xfrm>
            <a:off x="8280400" y="3048000"/>
            <a:ext cx="228600" cy="228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000" y="3048000"/>
            <a:ext cx="2895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1C2C"/>
                </a:solidFill>
                <a:latin typeface="Arial"/>
              </a:rPr>
              <a:t>Warehouse: the pilot runs 6 weeks late. The roll-out moves to Q2 FY27.</a:t>
            </a:r>
          </a:p>
        </p:txBody>
      </p:sp>
      <p:sp>
        <p:nvSpPr>
          <p:cNvPr id="14" name="Oval 13"/>
          <p:cNvSpPr/>
          <p:nvPr/>
        </p:nvSpPr>
        <p:spPr>
          <a:xfrm>
            <a:off x="8280400" y="4064000"/>
            <a:ext cx="228600" cy="2286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4064000"/>
            <a:ext cx="28956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51C2C"/>
                </a:solidFill>
                <a:latin typeface="Arial"/>
              </a:rPr>
              <a:t>Pricing: the roll-out is at risk while store staff wait for 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FY26 business review</dc:title>
  <dc:subject/>
  <dc:creator>Boardplot examples</dc:creator>
  <cp:keywords/>
  <dc:description>generated using python-pptx</dc:description>
  <cp:lastModifiedBy>Boardplot examples</cp:lastModifiedBy>
  <cp:revision>1</cp:revision>
  <dcterms:created xsi:type="dcterms:W3CDTF">2013-01-27T09:14:16Z</dcterms:created>
  <dcterms:modified xsi:type="dcterms:W3CDTF">2013-01-27T09:15:58Z</dcterms:modified>
  <cp:category/>
</cp:coreProperties>
</file>